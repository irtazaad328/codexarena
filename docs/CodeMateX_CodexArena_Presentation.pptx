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291840" cy="411480"/>
          </a:xfrm>
          <a:prstGeom prst="roundRect">
            <a:avLst/>
          </a:prstGeom>
          <a:solidFill>
            <a:srgbClr val="272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IBM BOB 2.0 HACKATHON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⚔️ CodexArena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8BDF8"/>
                </a:solidFill>
              </a:defRPr>
            </a:pPr>
            <a:r>
              <a:t>Autonomous Adversarial Chaos &amp; Self-Healing Engine for Microservices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1A1AA"/>
                </a:solidFill>
              </a:defRPr>
            </a:pPr>
            <a:r>
              <a:t>Transforming AI from a passive code generator into an active cyber-resilience engineer that autonomously stress-tests, breaks, synthesizes atomic row-level hot-patches, and certifies 100% resilience.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3383280" cy="1097280"/>
          </a:xfrm>
          <a:prstGeom prst="roundRect">
            <a:avLst/>
          </a:prstGeom>
          <a:solidFill>
            <a:srgbClr val="18181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🔴 Red Agent</a:t>
            </a:r>
          </a:p>
          <a:p>
            <a:pPr>
              <a:defRPr sz="1050">
                <a:solidFill>
                  <a:srgbClr val="A1A1AA"/>
                </a:solidFill>
              </a:defRPr>
            </a:pPr>
            <a:r>
              <a:t>50-concurrent TOCTOU &amp; invariant chaos attacker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754880"/>
            <a:ext cx="3383280" cy="1097280"/>
          </a:xfrm>
          <a:prstGeom prst="roundRect">
            <a:avLst/>
          </a:prstGeom>
          <a:solidFill>
            <a:srgbClr val="18181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🔵 Blue Agent</a:t>
            </a:r>
          </a:p>
          <a:p>
            <a:pPr>
              <a:defRPr sz="1050">
                <a:solidFill>
                  <a:srgbClr val="A1A1AA"/>
                </a:solidFill>
              </a:defRPr>
            </a:pPr>
            <a:r>
              <a:t>Autonomous telemetry analyzer &amp; on-disk hot-patcher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754880"/>
            <a:ext cx="3383280" cy="1097280"/>
          </a:xfrm>
          <a:prstGeom prst="roundRect">
            <a:avLst/>
          </a:prstGeom>
          <a:solidFill>
            <a:srgbClr val="18181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📜 Tamper-Proof</a:t>
            </a:r>
          </a:p>
          <a:p>
            <a:pPr>
              <a:defRPr sz="1050">
                <a:solidFill>
                  <a:srgbClr val="A1A1AA"/>
                </a:solidFill>
              </a:defRPr>
            </a:pPr>
            <a:r>
              <a:t>Cryptographic SHA-256 resilience certification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Built by Team CodeMateX (irtazaad328)  •  Powered by IBM Bob 2.0 &amp; FastMCP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F4444"/>
                </a:solidFill>
              </a:defRPr>
            </a:pPr>
            <a:r>
              <a:t>01 / THE HIDDEN PRODUCTION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Current CI/CD Pipelines Fail in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114800"/>
          </a:xfrm>
          <a:prstGeom prst="roundRect">
            <a:avLst/>
          </a:prstGeom>
          <a:solidFill>
            <a:srgbClr val="18181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[01]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Single-Threaded Blindspot</a:t>
            </a:r>
          </a:p>
          <a:p>
            <a:pPr>
              <a:defRPr sz="1200">
                <a:solidFill>
                  <a:srgbClr val="A1A1AA"/>
                </a:solidFill>
              </a:defRPr>
            </a:pPr>
            <a:r>
              <a:t>Unit tests execute in sequential, isolated memory with mock databases. They never reproduce the chaotic multi-threaded conditions, lock contention, or race windows of live production traffic.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737360"/>
            <a:ext cx="3383280" cy="4114800"/>
          </a:xfrm>
          <a:prstGeom prst="roundRect">
            <a:avLst/>
          </a:prstGeom>
          <a:solidFill>
            <a:srgbClr val="18181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[02]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Silent Invariant Violations</a:t>
            </a:r>
          </a:p>
          <a:p>
            <a:pPr>
              <a:defRPr sz="1200">
                <a:solidFill>
                  <a:srgbClr val="A1A1AA"/>
                </a:solidFill>
              </a:defRPr>
            </a:pPr>
            <a:r>
              <a:t>Critical bugs like TOCTOU (Time-of-Check to Time-of-Use), negative balance drains, and duplicate replay exploits slip past linters because every single line of code looks syntactically innocent.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737360"/>
            <a:ext cx="3383280" cy="4114800"/>
          </a:xfrm>
          <a:prstGeom prst="roundRect">
            <a:avLst/>
          </a:prstGeom>
          <a:solidFill>
            <a:srgbClr val="18181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[03]</a:t>
            </a:r>
          </a:p>
          <a:p>
            <a:pPr>
              <a:spcBef>
                <a:spcPts val="800"/>
              </a:spcBef>
              <a:spcAft>
                <a:spcPts val="1400"/>
              </a:spcAft>
              <a:defRPr sz="1700" b="1">
                <a:solidFill>
                  <a:srgbClr val="FFFFFF"/>
                </a:solidFill>
              </a:defRPr>
            </a:pPr>
            <a:r>
              <a:t>Billion-Dollar Disasters</a:t>
            </a:r>
          </a:p>
          <a:p>
            <a:pPr>
              <a:defRPr sz="1200">
                <a:solidFill>
                  <a:srgbClr val="A1A1AA"/>
                </a:solidFill>
              </a:defRPr>
            </a:pPr>
            <a:r>
              <a:t>From multi-billion dollar outages like CrowdStrike to decentralized financial double-spends, production failures cost millions before developers can even locate the root cause.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CodexArena — Autonomous Chaos &amp; Self-Healing Engine  |  IBM Bob 2.0 Hackathon  |  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02 / 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Autonomous Dual-Agent Digital Colosseum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8BDF8"/>
                </a:solidFill>
              </a:defRPr>
            </a:pPr>
            <a:r>
              <a:t>Drop any Python microservice into targets/ folder. CodexArena autonomously pits attacker against healer.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4023360"/>
          </a:xfrm>
          <a:prstGeom prst="roundRect">
            <a:avLst/>
          </a:prstGeom>
          <a:solidFill>
            <a:srgbClr val="18181B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🔴 Red Agent (Hostile Adversary)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50-concurrent request bursts exploiting TOCTOU read/write window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Negative balance injections creating ghost treasury overdrafts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Self-transfer balance doubling invariant violations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High-velocity idempotency replay attacks bypassing trace IDs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Simulates real-world hostile assault with millisecond precision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4023360"/>
          </a:xfrm>
          <a:prstGeom prst="roundRect">
            <a:avLst/>
          </a:prstGeom>
          <a:solidFill>
            <a:srgbClr val="18181B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🔵 Blue Agent (Autonomous Healer)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Intercepts crash telemetry, balance drift, and corrupted state dumps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Pinpoints non-atomic read/write split &amp; missing invariant checks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Synthesizes precision atomic row-level SQL &amp; idempotency cache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Applies hot-patches directly to target files on disk (zero restart)</a:t>
            </a:r>
          </a:p>
          <a:p>
            <a:pPr>
              <a:spcBef>
                <a:spcPts val="800"/>
              </a:spcBef>
              <a:defRPr sz="1200">
                <a:solidFill>
                  <a:srgbClr val="A1A1AA"/>
                </a:solidFill>
              </a:defRPr>
            </a:pPr>
            <a:r>
              <a:t>• Re-launches adversarial battle to mathematically prove 100% resilience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CodexArena — Autonomous Chaos &amp; Self-Healing Engine  |  IBM Bob 2.0 Hackathon  |  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03 / THE ENGINE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Orchestrated via Model Context Protocol (FastMCP)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5 Custom FastMCP Tools Registered in .bob/mcp.json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⚡ launch_arena_battle</a:t>
            </a:r>
          </a:p>
          <a:p>
            <a:pPr>
              <a:defRPr sz="1100">
                <a:solidFill>
                  <a:srgbClr val="A1A1AA"/>
                </a:solidFill>
              </a:defRPr>
            </a:pPr>
            <a:r>
              <a:t>   Commands Red Agent to unleash multi-threaded exploit burst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⚡ get_crash_telemetry</a:t>
            </a:r>
          </a:p>
          <a:p>
            <a:pPr>
              <a:defRPr sz="1100">
                <a:solidFill>
                  <a:srgbClr val="A1A1AA"/>
                </a:solidFill>
              </a:defRPr>
            </a:pPr>
            <a:r>
              <a:t>   Extracts balance drift, corrupted account IDs, and stack traces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⚡ apply_hot_patch</a:t>
            </a:r>
          </a:p>
          <a:p>
            <a:pPr>
              <a:defRPr sz="1100">
                <a:solidFill>
                  <a:srgbClr val="A1A1AA"/>
                </a:solidFill>
              </a:defRPr>
            </a:pPr>
            <a:r>
              <a:t>   Blue Agent writes atomic UPDATE locks &amp; patches files on disk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⚡ verify_resilience</a:t>
            </a:r>
          </a:p>
          <a:p>
            <a:pPr>
              <a:defRPr sz="1100">
                <a:solidFill>
                  <a:srgbClr val="A1A1AA"/>
                </a:solidFill>
              </a:defRPr>
            </a:pPr>
            <a:r>
              <a:t>   Executes immediate secondary assault to verify 100% immunity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⚡ export_resilience_certificate</a:t>
            </a:r>
          </a:p>
          <a:p>
            <a:pPr>
              <a:defRPr sz="1100">
                <a:solidFill>
                  <a:srgbClr val="A1A1AA"/>
                </a:solidFill>
              </a:defRPr>
            </a:pPr>
            <a:r>
              <a:t>   Issues cryptographically signed JSON &amp; printable PDF certificate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56616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IBM Bob Verified Benchmarks</a:t>
            </a:r>
          </a:p>
          <a:p>
            <a:pPr>
              <a:spcBef>
                <a:spcPts val="800"/>
              </a:spcBef>
              <a:defRPr sz="2000" b="1">
                <a:solidFill>
                  <a:srgbClr val="10B981"/>
                </a:solidFill>
              </a:defRPr>
            </a:pPr>
            <a:r>
              <a:t>242.8k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Context Tokens Processed</a:t>
            </a:r>
          </a:p>
          <a:p>
            <a:pPr>
              <a:defRPr sz="950">
                <a:solidFill>
                  <a:srgbClr val="A1A1AA"/>
                </a:solidFill>
              </a:defRPr>
            </a:pPr>
            <a:r>
              <a:t>Handled massive multi-vector telemetry across 270k window</a:t>
            </a:r>
          </a:p>
          <a:p>
            <a:pPr>
              <a:spcBef>
                <a:spcPts val="800"/>
              </a:spcBef>
              <a:defRPr sz="2000" b="1">
                <a:solidFill>
                  <a:srgbClr val="10B981"/>
                </a:solidFill>
              </a:defRPr>
            </a:pPr>
            <a:r>
              <a:t>25 / 25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Multi-Step Tasks Completed</a:t>
            </a:r>
          </a:p>
          <a:p>
            <a:pPr>
              <a:defRPr sz="950">
                <a:solidFill>
                  <a:srgbClr val="A1A1AA"/>
                </a:solidFill>
              </a:defRPr>
            </a:pPr>
            <a:r>
              <a:t>100% task execution success rate without losing state</a:t>
            </a:r>
          </a:p>
          <a:p>
            <a:pPr>
              <a:spcBef>
                <a:spcPts val="800"/>
              </a:spcBef>
              <a:defRPr sz="2000" b="1">
                <a:solidFill>
                  <a:srgbClr val="10B981"/>
                </a:solidFill>
              </a:defRPr>
            </a:pPr>
            <a:r>
              <a:t>31.64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Bobcoins Consumed</a:t>
            </a:r>
          </a:p>
          <a:p>
            <a:pPr>
              <a:defRPr sz="950">
                <a:solidFill>
                  <a:srgbClr val="A1A1AA"/>
                </a:solidFill>
              </a:defRPr>
            </a:pPr>
            <a:r>
              <a:t>Optimal reasoning-to-token efficiency</a:t>
            </a:r>
          </a:p>
          <a:p>
            <a:pPr>
              <a:spcBef>
                <a:spcPts val="800"/>
              </a:spcBef>
              <a:defRPr sz="2000" b="1">
                <a:solidFill>
                  <a:srgbClr val="10B981"/>
                </a:solidFill>
              </a:defRPr>
            </a:pPr>
            <a:r>
              <a:t>Task ID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4d6a28e9ae59ca14...</a:t>
            </a:r>
          </a:p>
          <a:p>
            <a:pPr>
              <a:defRPr sz="950">
                <a:solidFill>
                  <a:srgbClr val="A1A1AA"/>
                </a:solidFill>
              </a:defRPr>
            </a:pPr>
            <a:r>
              <a:t>Full session recorded in bob_sessions/ deliverable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CodexArena — Autonomous Chaos &amp; Self-Healing Engine  |  IBM Bob 2.0 Hackathon  |  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04 / THE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Cyber War-Room Cockpit &amp; Cryptographic Certification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389120"/>
          </a:xfrm>
          <a:prstGeom prst="round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War-Room Cockpit Features</a:t>
            </a:r>
          </a:p>
          <a:p>
            <a:pPr>
              <a:spcBef>
                <a:spcPts val="800"/>
              </a:spcBef>
              <a:defRPr sz="1250" b="1">
                <a:solidFill>
                  <a:srgbClr val="FFFFFF"/>
                </a:solidFill>
              </a:defRPr>
            </a:pPr>
            <a:r>
              <a:t>📡 Real-Time Combat Feed</a:t>
            </a:r>
          </a:p>
          <a:p>
            <a:pPr>
              <a:defRPr sz="1050">
                <a:solidFill>
                  <a:srgbClr val="A1A1AA"/>
                </a:solidFill>
              </a:defRPr>
            </a:pPr>
            <a:r>
              <a:t>Server-Sent Events (SSE) stream live attack latencies, overdrafts, and patch actions at sub-millisecond speeds.</a:t>
            </a:r>
          </a:p>
          <a:p>
            <a:pPr>
              <a:spcBef>
                <a:spcPts val="800"/>
              </a:spcBef>
              <a:defRPr sz="1250" b="1">
                <a:solidFill>
                  <a:srgbClr val="FFFFFF"/>
                </a:solidFill>
              </a:defRPr>
            </a:pPr>
            <a:r>
              <a:t>🎯 Dynamic 0-100% Resilience Gauge</a:t>
            </a:r>
          </a:p>
          <a:p>
            <a:pPr>
              <a:defRPr sz="1050">
                <a:solidFill>
                  <a:srgbClr val="A1A1AA"/>
                </a:solidFill>
              </a:defRPr>
            </a:pPr>
            <a:r>
              <a:t>Instant visual feedback as balance drift drops resilience to 0% and verified healing restores 100% immunity.</a:t>
            </a:r>
          </a:p>
          <a:p>
            <a:pPr>
              <a:spcBef>
                <a:spcPts val="800"/>
              </a:spcBef>
              <a:defRPr sz="1250" b="1">
                <a:solidFill>
                  <a:srgbClr val="FFFFFF"/>
                </a:solidFill>
              </a:defRPr>
            </a:pPr>
            <a:r>
              <a:t>🔍 Syntax-Highlighted Diff Viewer</a:t>
            </a:r>
          </a:p>
          <a:p>
            <a:pPr>
              <a:defRPr sz="1050">
                <a:solidFill>
                  <a:srgbClr val="A1A1AA"/>
                </a:solidFill>
              </a:defRPr>
            </a:pPr>
            <a:r>
              <a:t>Inspects generated atomic SQL row locks and invariant guards side-by-side in real-time.</a:t>
            </a:r>
          </a:p>
          <a:p>
            <a:pPr>
              <a:spcBef>
                <a:spcPts val="800"/>
              </a:spcBef>
              <a:defRPr sz="1250" b="1">
                <a:solidFill>
                  <a:srgbClr val="FFFFFF"/>
                </a:solidFill>
              </a:defRPr>
            </a:pPr>
            <a:r>
              <a:t>🔒 Tamper-Proof Resilience Certificate</a:t>
            </a:r>
          </a:p>
          <a:p>
            <a:pPr>
              <a:defRPr sz="1050">
                <a:solidFill>
                  <a:srgbClr val="A1A1AA"/>
                </a:solidFill>
              </a:defRPr>
            </a:pPr>
            <a:r>
              <a:t>Issues cryptographic SHA-256 signed audit report with hardened file inventory, ready for compliance.</a:t>
            </a:r>
          </a:p>
        </p:txBody>
      </p:sp>
      <p:pic>
        <p:nvPicPr>
          <p:cNvPr id="6" name="Picture 5" descr="war_room_certifi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45920"/>
            <a:ext cx="6035040" cy="27758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CodexArena — Autonomous Chaos &amp; Self-Healing Engine  |  IBM Bob 2.0 Hackathon  |  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05 / VISION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Future of Autonomous Cyber-Resilience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3108960"/>
          </a:xfrm>
          <a:prstGeom prst="roundRect">
            <a:avLst/>
          </a:prstGeom>
          <a:solidFill>
            <a:srgbClr val="18181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$0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Zero-Day Financial Losses</a:t>
            </a:r>
          </a:p>
          <a:p>
            <a:pPr>
              <a:defRPr sz="1150">
                <a:solidFill>
                  <a:srgbClr val="A1A1AA"/>
                </a:solidFill>
              </a:defRPr>
            </a:pPr>
            <a:r>
              <a:t>Completely eliminates financial double-spending, ghost overdrafts, and negative balance exploits prior to production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737360"/>
            <a:ext cx="3383280" cy="3108960"/>
          </a:xfrm>
          <a:prstGeom prst="roundRect">
            <a:avLst/>
          </a:prstGeom>
          <a:solidFill>
            <a:srgbClr val="18181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&lt; 3s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Mean Time To Remediation</a:t>
            </a:r>
          </a:p>
          <a:p>
            <a:pPr>
              <a:defRPr sz="1150">
                <a:solidFill>
                  <a:srgbClr val="A1A1AA"/>
                </a:solidFill>
              </a:defRPr>
            </a:pPr>
            <a:r>
              <a:t>Reduces incident response from hours of manual code debugging to autonomous telemetry analysis and on-disk verification in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737360"/>
            <a:ext cx="3383280" cy="3108960"/>
          </a:xfrm>
          <a:prstGeom prst="roundRect">
            <a:avLst/>
          </a:prstGeom>
          <a:solidFill>
            <a:srgbClr val="18181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A855F7"/>
                </a:solidFill>
              </a:defRPr>
            </a:pPr>
            <a:r>
              <a:t>Multi-Lang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Extensible Roadmap</a:t>
            </a:r>
          </a:p>
          <a:p>
            <a:pPr>
              <a:defRPr sz="1150">
                <a:solidFill>
                  <a:srgbClr val="A1A1AA"/>
                </a:solidFill>
              </a:defRPr>
            </a:pPr>
            <a:r>
              <a:t>Extending the dual-agent colosseum from Python microservices to Go, Rust, and Solidity/EVM financial smart contracts.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18181B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"AI shouldn't just autocomplete code — it should actively defend it."</a:t>
            </a:r>
          </a:p>
          <a:p>
            <a:pPr algn="ctr">
              <a:defRPr sz="1200">
                <a:solidFill>
                  <a:srgbClr val="38BDF8"/>
                </a:solidFill>
              </a:defRPr>
            </a:pPr>
            <a:r>
              <a:t>CodexArena × IBM Bob 2.0  •  Ready for Enterprise CI/CD DevSecOps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CodexArena — Autonomous Chaos &amp; Self-Healing Engine  |  IBM Bob 2.0 Hackathon  |  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